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immediately: 'probabilistic correction traded for lower overhead and intrinsic burst immunity.'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to one slide — no implementation detail needed. Emphasise the permutation's double duty: scrambling AND burst equalization.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CRC-32 strength. Show the CRC-8 cliff openly — do not hide it. The cliff shape (sharp, not gradual)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proactively: BCH anomaly at 128 bits in Fig 3 is a tiling-boundary artifact. Explain honest overhead methodology if asked: you measured BCH success at each flip count, found the 95% threshold, divided parity bits by block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cleanest result. Let it breathe. If asked: 'how tight is the overlap?' — answer: indistinguishable within key-sample variance at every flip count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main theoretical contribution. Spend extra time. If asked 'is this derived or fit?' — answer: the functional form comes from the architecture (√L is the node count); the threshold values are empirical. Validation experiment will test this on L=768 and L=3072.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soften the CRC-8 number. Present it as alarming. You found it, you characterised it — that is intellectual credit. 'This is why CRC width selection is a safety boundary, not just a performance knob.'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this table collaboratively in narration. Do not claim every cell favours your scheme — the advisor will respect honest accounting far more. BCH determinism is a real advantage;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as 'here is what I think comes next' not 'here is what I have not done'. The advisor may reprioritise — let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signals you are thinking about theory, not just running experiments. The advisor will have opinions on which of these is tractable — let them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88952" cy="2377440"/>
          </a:xfrm>
          <a:prstGeom prst="rect">
            <a:avLst/>
          </a:prstGeom>
          <a:solidFill>
            <a:srgbClr val="10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Approximate ECC via
Feistel-Permuted CRC Hashing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8346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CCEE"/>
                </a:solidFill>
              </a:rPr>
              <a:t>Empirical characterization of correction capability, overhead, and failure modes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3566160"/>
            <a:ext cx="21305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88888"/>
                </a:solidFill>
              </a:rPr>
              <a:t>Advisor Progress Check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Scheme in 60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CCEE"/>
                </a:solidFill>
              </a:rPr>
              <a:t>Feistel permutation  →  CRC hash groups  →  DAG-guided solver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3291840" cy="4114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291840" cy="438912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48132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1. Feistel Permutation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965960"/>
            <a:ext cx="3063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>
                <a:solidFill>
                  <a:srgbClr val="444444"/>
                </a:solidFill>
              </a:rPr>
              <a:t>▸  Maps each bit's linear index to a 2D grid position using a key-derived bijection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>
                <a:solidFill>
                  <a:srgbClr val="444444"/>
                </a:solidFill>
              </a:rPr>
              <a:t>▸  Provides spatial scrambling — no two keys produce the same layout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>
                <a:solidFill>
                  <a:srgbClr val="444444"/>
                </a:solidFill>
              </a:rPr>
              <a:t>▸  Key insight: distributes burst errors uniformly, making them look random to the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24612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E86C1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40" y="1417320"/>
            <a:ext cx="3291840" cy="4114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77640" y="1417320"/>
            <a:ext cx="3291840" cy="43891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48132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2. CRC Hash Groups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2232" y="1965960"/>
            <a:ext cx="3063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>
                <a:solidFill>
                  <a:srgbClr val="444444"/>
                </a:solidFill>
              </a:rPr>
              <a:t>▸  Each row and each column of the grid carries a CRC checksum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>
                <a:solidFill>
                  <a:srgbClr val="444444"/>
                </a:solidFill>
              </a:rPr>
              <a:t>▸  CRC-8 / CRC-16 / CRC-32 control the overhead budget (25% / 50% / 100%)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>
                <a:solidFill>
                  <a:srgbClr val="444444"/>
                </a:solidFill>
              </a:rPr>
              <a:t>▸  Mismatched hashes localise the corrupted region for the solver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324612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E86C1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1417320"/>
            <a:ext cx="3291840" cy="4114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0" y="1417320"/>
            <a:ext cx="3291840" cy="438912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20" y="148132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3. DAG-Guided Solver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1965960"/>
            <a:ext cx="3063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>
                <a:solidFill>
                  <a:srgbClr val="444444"/>
                </a:solidFill>
              </a:rPr>
              <a:t>▸  Nodes ordered by fewest covered bits — smallest search space first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>
                <a:solidFill>
                  <a:srgbClr val="444444"/>
                </a:solidFill>
              </a:rPr>
              <a:t>▸  Exhaustively tests flip combinations until hash agreement is restored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>
                <a:solidFill>
                  <a:srgbClr val="444444"/>
                </a:solidFill>
              </a:rPr>
              <a:t>▸  Returns exact corrected bitstring, or flags failure if none found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It Corrects  —  4096-bit block, 30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CCEE"/>
                </a:solidFill>
              </a:rPr>
              <a:t>Success rate, solve time, and hash comparisons vs injected bit-flips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1_head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8046720" cy="5303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412480" y="1188720"/>
            <a:ext cx="73152" cy="128016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1188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8B4C"/>
                </a:solidFill>
              </a:rPr>
              <a:t>CRC-32 (100% OH)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536192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100% success through
266 flips (~6.5% BER)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2834640"/>
            <a:ext cx="73152" cy="12801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28346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C1"/>
                </a:solidFill>
              </a:rPr>
              <a:t>CRC-16 (50% OH)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182112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100% through 100 flips;
graceful degradation to 190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4480560"/>
            <a:ext cx="73152" cy="12801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4480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</a:rPr>
              <a:t>CRC-8 (25% OH)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28032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Sharp cliff at 40 flips —
not gradual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Honest Overhead Comparison vs BCH  —  4096-bit block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CCEE"/>
                </a:solidFill>
              </a:rPr>
              <a:t>Theoretical BCH vs actual BCH needed for 95% success vs our operating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2_overhead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8046720" cy="5303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66760" y="1143000"/>
            <a:ext cx="3639312" cy="146304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66760" y="1143000"/>
            <a:ext cx="109728" cy="14630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12161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44444"/>
                </a:solidFill>
              </a:rPr>
              <a:t>Honest BCH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1527048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BCH t=10 needs 63% overhead for 95% success — vs 35% theoretical.
1.8× gap from Poisson variance in per-block error count.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2770632"/>
            <a:ext cx="3639312" cy="146304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66760" y="2770632"/>
            <a:ext cx="109728" cy="1463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284378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44444"/>
                </a:solidFill>
              </a:rPr>
              <a:t>Our operating 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15468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CRC-16 (50% OH): 100 flips at 95%.
CRC-32 (100% OH): 200+ flips.
Comparable to honest BCH at lower or equal overhead.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60" y="4398264"/>
            <a:ext cx="3639312" cy="146304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66760" y="4398264"/>
            <a:ext cx="109728" cy="146304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4471416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44444"/>
                </a:solidFill>
              </a:rPr>
              <a:t>Decode complexity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782312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CRC hash checks are 10–30× cheaper than BCH GF field operations
at all tested correction targets.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Burst Immunity is Intrinsic  —  4096-bit, 16-bit CRC, 30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CCEE"/>
                </a:solidFill>
              </a:rPr>
              <a:t>Feistel shuffle distributes burst errors uniformly — curves overlap almost perfectly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4_burst_resili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303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869680" y="1188720"/>
            <a:ext cx="3108960" cy="5029200"/>
          </a:xfrm>
          <a:prstGeom prst="rect">
            <a:avLst/>
          </a:prstGeom>
          <a:solidFill>
            <a:srgbClr val="E8F4E8"/>
          </a:solidFill>
          <a:ln w="12700">
            <a:solidFill>
              <a:srgbClr val="1E8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0" y="1188720"/>
            <a:ext cx="3108960" cy="41148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0" y="120700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Key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69164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300">
                <a:solidFill>
                  <a:srgbClr val="444444"/>
                </a:solidFill>
              </a:rPr>
              <a:t>✓  Random and burst success curves overlap across the full flip range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300">
                <a:solidFill>
                  <a:srgbClr val="444444"/>
                </a:solidFill>
              </a:rPr>
              <a:t>✓  Solver search effort (combo evaluations) is nearly identical for both modes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300">
                <a:solidFill>
                  <a:srgbClr val="444444"/>
                </a:solidFill>
              </a:rPr>
              <a:t>✓  The Feistel permutation converts burst errors into random spatial distribution — the solver never sees the difference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300">
                <a:solidFill>
                  <a:srgbClr val="444444"/>
                </a:solidFill>
              </a:rPr>
              <a:t>✓  BCH requires explicit interleaving to match this; our scheme provides it architecturally with no extra mechanism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Unified Model: The Flips-per-Node Threshold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CCEE"/>
                </a:solidFill>
              </a:rPr>
              <a:t>A single variable — flips ÷ √L — predicts solver success across all block sizes and configurations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</a:rPr>
              <a:t>Success rate collapses on one curve when we measure
flips per row-node (= flips ÷ √L) instead of raw flip count or BER.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148840"/>
          <a:ext cx="5394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Flips / row-node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Observed success rate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Regime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444444"/>
                          </a:solidFill>
                        </a:rPr>
                        <a:t>&lt; 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444444"/>
                          </a:solidFill>
                        </a:rPr>
                        <a:t>~100%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444444"/>
                          </a:solidFill>
                        </a:rPr>
                        <a:t>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444444"/>
                          </a:solidFill>
                        </a:rPr>
                        <a:t>~2.2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444444"/>
                          </a:solidFill>
                        </a:rPr>
                        <a:t>~70%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444444"/>
                          </a:solidFill>
                        </a:rPr>
                        <a:t>Degrading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444444"/>
                          </a:solidFill>
                        </a:rPr>
                        <a:t>&gt; 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444444"/>
                          </a:solidFill>
                        </a:rPr>
                        <a:t>~0%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444444"/>
                          </a:solidFill>
                        </a:rPr>
                        <a:t>Failed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1605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44444"/>
                </a:solidFill>
              </a:rPr>
              <a:t>Evidence — same curve across experiments: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617720"/>
          <a:ext cx="5394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1078992"/>
                <a:gridCol w="1078992"/>
                <a:gridCol w="1078992"/>
                <a:gridCol w="1078992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Flips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Flips/node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Success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Fig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1024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1.59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Fig 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4096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1.56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Fig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2048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2.22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Fig 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4096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1.95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70%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Fig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4096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204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3.19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Fig 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4096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3.12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444"/>
                          </a:solidFill>
                        </a:rPr>
                        <a:t>~5%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217920" y="1188720"/>
            <a:ext cx="5669280" cy="5303520"/>
          </a:xfrm>
          <a:prstGeom prst="rect">
            <a:avLst/>
          </a:prstGeom>
          <a:solidFill>
            <a:srgbClr val="EAF2FB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21615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Why flips/node is the right variable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78308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>
                <a:solidFill>
                  <a:srgbClr val="444444"/>
                </a:solidFill>
              </a:rPr>
              <a:t>→  √L = number of row-groups in the grid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>
                <a:solidFill>
                  <a:srgbClr val="444444"/>
                </a:solidFill>
              </a:rPr>
              <a:t>→  Flips ÷ √L = average solver load per DAG node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>
                <a:solidFill>
                  <a:srgbClr val="444444"/>
                </a:solidFill>
              </a:rPr>
              <a:t>→  The solver's difficulty is per-node, not total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>
                <a:solidFill>
                  <a:srgbClr val="444444"/>
                </a:solidFill>
              </a:rPr>
              <a:t>→  This collapses Fig 1, Fig 2, Fig 3, and Fig 6
onto a single predictive axis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>
                <a:solidFill>
                  <a:srgbClr val="444444"/>
                </a:solidFill>
              </a:rPr>
              <a:t>→  Empirically derived — validation on unseen
block sizes is the proposed next experiment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Safety: Silent Data Corruption (SDC)  —  50 keys/cell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CCEE"/>
                </a:solidFill>
              </a:rPr>
              <a:t>When the solver returns a wrong answer that satisfies all hash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88720"/>
          <a:ext cx="5029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Configuration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SDC rate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444444"/>
                          </a:solidFill>
                        </a:rPr>
                        <a:t>CRC-8,  group-size=1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444444"/>
                          </a:solidFill>
                        </a:rPr>
                        <a:t>78.6%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444444"/>
                          </a:solidFill>
                        </a:rPr>
                        <a:t>⚠ Unsafe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444444"/>
                          </a:solidFill>
                        </a:rPr>
                        <a:t>CRC-16, group-size=1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444444"/>
                          </a:solidFill>
                        </a:rPr>
                        <a:t>14.2%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444444"/>
                          </a:solidFill>
                        </a:rPr>
                        <a:t>⚠ Risky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444444"/>
                          </a:solidFill>
                        </a:rPr>
                        <a:t>CRC-16, group-size=2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444444"/>
                          </a:solidFill>
                        </a:rPr>
                        <a:t>~0%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444444"/>
                          </a:solidFill>
                        </a:rPr>
                        <a:t>✓ 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444444"/>
                          </a:solidFill>
                        </a:rPr>
                        <a:t>CRC-32, group-size=1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444444"/>
                          </a:solidFill>
                        </a:rPr>
                        <a:t>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444444"/>
                          </a:solidFill>
                        </a:rPr>
                        <a:t>✓ Safe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5204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8B4C"/>
                </a:solidFill>
              </a:rPr>
              <a:t>CRC-32: zero silent errors observed across all tested configurations.
All failures are detected — never silent.</a:t>
            </a:r>
          </a:p>
        </p:txBody>
      </p:sp>
      <p:pic>
        <p:nvPicPr>
          <p:cNvPr id="9" name="Picture 8" descr="fig_s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6309360" cy="5303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3891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444444"/>
                </a:solidFill>
              </a:rPr>
              <a:t>CRC width selection is not just a
performance knob — it is a safety boundary.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Honest Positioning vs BCH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CCEE"/>
                </a:solidFill>
              </a:rPr>
              <a:t>Different points in the design space — not a universal replacement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8872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Property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Our scheme (CRC-16, gs=2)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BCH (t=10, 4096b)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</a:rPr>
                        <a:t>Overhead (honest, 95% success)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~63%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</a:rPr>
                        <a:t>Correction guarantee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Probabilistic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Deterministic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</a:rPr>
                        <a:t>Burst immunity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Intrinsic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Needs interleaving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</a:rPr>
                        <a:t>SDC risk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~0% (gs=2)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0%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</a:rPr>
                        <a:t>Decode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O(L) hash checks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O(L · GF ops)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</a:rPr>
                        <a:t>Overhead scaling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O(1/√L) — improves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Flat across sizes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</a:rPr>
                        <a:t>Theoretical guarantees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Empirical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Algebraic bounds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2578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44444"/>
                </a:solidFill>
              </a:rPr>
              <a:t>BCH wins on: deterministic correction, zero SDC at any width, established theory.
We win on: overhead at scale, intrinsic burst immunity, decode cost, O(1/√L) scaling.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Proposed Next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CCEE"/>
                </a:solidFill>
              </a:rPr>
              <a:t>Ordered by effort — all directly address current gaps in the argument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715000" cy="237744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71500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8930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SDC rate vs flip count sweep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28930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FFFFFF"/>
                </a:solidFill>
              </a:rPr>
              <a:t>[Low effort]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746504"/>
            <a:ext cx="5394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Does SDC spike near the correction cliff? Does CRC-32 hold zero SDC even at 300+ flips?
Sweep flip=0–300 in steps of 25, 4096-bit, CRC-16 and CRC-32, 50 keys.
Closes the 'is SDC constant or does it spike?' question the advisor will ask.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34440"/>
            <a:ext cx="5715000" cy="237744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34440"/>
            <a:ext cx="5715000" cy="411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28930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Solver runtime tail distribution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128930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FFFFFF"/>
                </a:solidFill>
              </a:rPr>
              <a:t>[Low effort]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1746504"/>
            <a:ext cx="5394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Full histogram of combo evaluations per trial (not just mean). Is the exponential tail thin?
Re-analyse existing data + short additional run.
Needed before claiming 'rarely hits exponential case in practice.'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840480"/>
            <a:ext cx="5715000" cy="237744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840480"/>
            <a:ext cx="57150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8953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Flips/node model — out-of-sample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89534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FFFFFF"/>
                </a:solidFill>
              </a:rPr>
              <a:t>[Medium effort]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4352544"/>
            <a:ext cx="5394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Test unified threshold model on L=768 and L=3072 (not used to derive it).
One clean out-of-sample prediction is worth more than ten in-sample fits.
Turns empirical observation into a validated predictive model.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840480"/>
            <a:ext cx="5715000" cy="237744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840480"/>
            <a:ext cx="5715000" cy="41148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8953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LDPC comparison at matched overhead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61320" y="389534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FFFFFF"/>
                </a:solidFill>
              </a:rPr>
              <a:t>[High effort]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4352544"/>
            <a:ext cx="5394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Compare against LDPC (the modern probabilistic ECC) at 50% and 100% overhead.
Addresses 'why not just use LDPC?' — needed for publication-quality positioning.
Estimate ~1 week to implement or integrate a reference library.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Open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CCEE"/>
                </a:solidFill>
              </a:rPr>
              <a:t>Theoretical gaps and deployment unknowns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715000" cy="224028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44168"/>
            <a:ext cx="1645920" cy="2926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Theory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3736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44444"/>
                </a:solidFill>
              </a:rPr>
              <a:t>Can the flips/node threshold be derived analytically?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58568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The functional form comes from the architecture (√L = node count). The threshold values
are empirical. Is there a derivation from CRC collision probability + DAG structure?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34440"/>
            <a:ext cx="5715000" cy="224028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344168"/>
            <a:ext cx="1645920" cy="292608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7160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Deployment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73736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44444"/>
                </a:solidFill>
              </a:rPr>
              <a:t>What is the per-key variance in success rate?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58568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Current results average over 20–50 keys. In deployment, a system uses one key.
The per-key success rate distribution is not characterised.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703320"/>
            <a:ext cx="5715000" cy="224028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3813048"/>
            <a:ext cx="1645920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84048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Adversarial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20624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44444"/>
                </a:solidFill>
              </a:rPr>
              <a:t>Is there a structured error pattern that defeats the Feistel permutation?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727448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Fig 4 shows natural burst errors are neutralised. But a structured adversary (or
physical fault like row-hammer) could target specific grid positions.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703320"/>
            <a:ext cx="5715000" cy="224028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813048"/>
            <a:ext cx="1645920" cy="29260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84048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Extension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20624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44444"/>
                </a:solidFill>
              </a:rPr>
              <a:t>Does the scheme extend naturally to erasures?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727448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Erasure channels (known-position errors) are common in flash and network coding.
The DAG solver may simplify significantly when positions are known.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[Backup] Scalability: Overhead vs Block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CCEE"/>
                </a:solidFill>
              </a:rPr>
              <a:t>16-bit CRC, group-size=1  ·  Our O(1/√L) scaling vs flat BCH overhead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78992"/>
            <a:ext cx="822960" cy="27432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88136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BACKUP</a:t>
            </a:r>
          </a:p>
        </p:txBody>
      </p:sp>
      <p:pic>
        <p:nvPicPr>
          <p:cNvPr id="9" name="Picture 8" descr="fig3_scal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10698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[Backup] BER × Block Size Surface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CCEE"/>
                </a:solidFill>
              </a:rPr>
              <a:t>16-bit CRC, 20 keys/cell  ·  Success rate as function of BER and block size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78992"/>
            <a:ext cx="822960" cy="27432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88136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BACKUP</a:t>
            </a:r>
          </a:p>
        </p:txBody>
      </p:sp>
      <p:pic>
        <p:nvPicPr>
          <p:cNvPr id="9" name="Picture 8" descr="fig6_ber_bitleng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10698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[Backup] Adaptive Grouping: Hash Width Sweep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CCEE"/>
                </a:solidFill>
              </a:rPr>
              <a:t>Overhead and correction tradeoffs across grouping strategies and CRC widths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78992"/>
            <a:ext cx="822960" cy="27432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88136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BACKUP</a:t>
            </a:r>
          </a:p>
        </p:txBody>
      </p:sp>
      <p:pic>
        <p:nvPicPr>
          <p:cNvPr id="9" name="Picture 8" descr="fig5_adaptive_grou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1069848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